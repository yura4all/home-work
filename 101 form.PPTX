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9"/>
  </p:notesMasterIdLst>
  <p:sldIdLst>
    <p:sldId id="284" r:id="rId2"/>
    <p:sldId id="326" r:id="rId3"/>
    <p:sldId id="285" r:id="rId4"/>
    <p:sldId id="327" r:id="rId5"/>
    <p:sldId id="328" r:id="rId6"/>
    <p:sldId id="329" r:id="rId7"/>
    <p:sldId id="302" r:id="rId8"/>
  </p:sldIdLst>
  <p:sldSz cx="12192000" cy="6858000"/>
  <p:notesSz cx="10287000" cy="18288000"/>
  <p:defaultTextStyle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pos="801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53A90"/>
    <a:srgbClr val="EEF3FF"/>
    <a:srgbClr val="203883"/>
    <a:srgbClr val="333F48"/>
    <a:srgbClr val="FFFFFF"/>
    <a:srgbClr val="00766C"/>
    <a:srgbClr val="788288"/>
    <a:srgbClr val="7A8189"/>
    <a:srgbClr val="396FAB"/>
    <a:srgbClr val="337E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2"/>
    <p:restoredTop sz="96020" autoAdjust="0"/>
  </p:normalViewPr>
  <p:slideViewPr>
    <p:cSldViewPr snapToGrid="0" snapToObjects="1">
      <p:cViewPr>
        <p:scale>
          <a:sx n="66" d="100"/>
          <a:sy n="66" d="100"/>
        </p:scale>
        <p:origin x="-774" y="-192"/>
      </p:cViewPr>
      <p:guideLst>
        <p:guide orient="horz" pos="2160"/>
        <p:guide pos="8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4828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714152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Обложк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A0FC0614-DDC1-E54D-8337-0639E35F44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5" y="0"/>
            <a:ext cx="12187589" cy="6858000"/>
          </a:xfrm>
          <a:prstGeom prst="rect">
            <a:avLst/>
          </a:prstGeom>
        </p:spPr>
      </p:pic>
      <p:pic>
        <p:nvPicPr>
          <p:cNvPr id="4" name="Object 3" descr="preencoded.png">
            <a:extLst>
              <a:ext uri="{FF2B5EF4-FFF2-40B4-BE49-F238E27FC236}">
                <a16:creationId xmlns:a16="http://schemas.microsoft.com/office/drawing/2014/main" xmlns="" id="{098FD572-55CA-FA43-9C24-A1E66838D6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>
            <a:off x="697565" y="592115"/>
            <a:ext cx="2467190" cy="50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110449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Обложк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CC0A9D95-DAC6-E941-A772-252E07A5C9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95"/>
            <a:ext cx="12192000" cy="6855209"/>
          </a:xfrm>
          <a:prstGeom prst="rect">
            <a:avLst/>
          </a:prstGeom>
        </p:spPr>
      </p:pic>
      <p:pic>
        <p:nvPicPr>
          <p:cNvPr id="4" name="Object 3" descr="preencoded.png">
            <a:extLst>
              <a:ext uri="{FF2B5EF4-FFF2-40B4-BE49-F238E27FC236}">
                <a16:creationId xmlns:a16="http://schemas.microsoft.com/office/drawing/2014/main" xmlns="" id="{098FD572-55CA-FA43-9C24-A1E66838D6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>
            <a:off x="697565" y="592115"/>
            <a:ext cx="2467190" cy="50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0882419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лайд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 descr="preencoded.png">
            <a:extLst>
              <a:ext uri="{FF2B5EF4-FFF2-40B4-BE49-F238E27FC236}">
                <a16:creationId xmlns:a16="http://schemas.microsoft.com/office/drawing/2014/main" xmlns="" id="{4296F38E-4F9E-0A44-933C-8CA613CB9C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9782383" y="548217"/>
            <a:ext cx="1570647" cy="3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195601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DDBAB5DD-03C4-484C-A93E-A024CFC0F3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40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
Второй уровень
Третий уровень
Четвертый уровень
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pPr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96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4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345" userDrawn="1">
          <p15:clr>
            <a:srgbClr val="F26B43"/>
          </p15:clr>
        </p15:guide>
        <p15:guide id="2" orient="horz" pos="3975" userDrawn="1">
          <p15:clr>
            <a:srgbClr val="F26B43"/>
          </p15:clr>
        </p15:guide>
        <p15:guide id="3" pos="7136" userDrawn="1">
          <p15:clr>
            <a:srgbClr val="F26B43"/>
          </p15:clr>
        </p15:guide>
        <p15:guide id="4" pos="5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cbr.ru/vfs/credit/forms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6">
            <a:extLst>
              <a:ext uri="{FF2B5EF4-FFF2-40B4-BE49-F238E27FC236}">
                <a16:creationId xmlns:a16="http://schemas.microsoft.com/office/drawing/2014/main" xmlns="" id="{D0730E41-4009-D347-BA05-01BDDE0D8D53}"/>
              </a:ext>
            </a:extLst>
          </p:cNvPr>
          <p:cNvSpPr/>
          <p:nvPr/>
        </p:nvSpPr>
        <p:spPr>
          <a:xfrm>
            <a:off x="662995" y="2554353"/>
            <a:ext cx="9457398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ru-RU" sz="4000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 pitchFamily="34" charset="-122"/>
                <a:cs typeface="SB Sans Display Semibold" panose="020B0703040504020204" pitchFamily="34" charset="0"/>
              </a:rPr>
              <a:t>Анализ 101 формы банковской отчетности с помощью </a:t>
            </a:r>
            <a:r>
              <a:rPr lang="en-US" sz="4000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 pitchFamily="34" charset="-122"/>
                <a:cs typeface="SB Sans Display Semibold" panose="020B0703040504020204" pitchFamily="34" charset="0"/>
              </a:rPr>
              <a:t>Python</a:t>
            </a:r>
            <a:r>
              <a:rPr lang="ru-RU" sz="4000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 pitchFamily="34" charset="-122"/>
                <a:cs typeface="SB Sans Display Semibold" panose="020B0703040504020204" pitchFamily="34" charset="0"/>
              </a:rPr>
              <a:t> и </a:t>
            </a:r>
            <a:r>
              <a:rPr lang="en-US" sz="4000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 pitchFamily="34" charset="-122"/>
                <a:cs typeface="SB Sans Display Semibold" panose="020B0703040504020204" pitchFamily="34" charset="0"/>
              </a:rPr>
              <a:t>SQL</a:t>
            </a:r>
            <a:endParaRPr lang="ru-RU" sz="4000" dirty="0">
              <a:solidFill>
                <a:srgbClr val="00766C"/>
              </a:solidFill>
              <a:latin typeface="SB Sans Display Semibold" panose="020B0703040504020204" pitchFamily="34" charset="0"/>
              <a:ea typeface="SB Sans Display Regular" pitchFamily="34" charset="-122"/>
              <a:cs typeface="SB Sans Display Semibold" panose="020B0703040504020204" pitchFamily="34" charset="0"/>
            </a:endParaRPr>
          </a:p>
        </p:txBody>
      </p:sp>
      <p:sp>
        <p:nvSpPr>
          <p:cNvPr id="5" name="Object5">
            <a:extLst>
              <a:ext uri="{FF2B5EF4-FFF2-40B4-BE49-F238E27FC236}">
                <a16:creationId xmlns:a16="http://schemas.microsoft.com/office/drawing/2014/main" xmlns="" id="{96781C16-15BD-4F45-92FC-07B08B544672}"/>
              </a:ext>
            </a:extLst>
          </p:cNvPr>
          <p:cNvSpPr/>
          <p:nvPr/>
        </p:nvSpPr>
        <p:spPr>
          <a:xfrm>
            <a:off x="662995" y="4439060"/>
            <a:ext cx="8794515" cy="1538883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r>
              <a:rPr lang="ru-RU" sz="2000" dirty="0">
                <a:solidFill>
                  <a:srgbClr val="333F48"/>
                </a:solidFill>
                <a:latin typeface="SB Sans Display" panose="020B0503040504020204" pitchFamily="34" charset="0"/>
                <a:ea typeface="SB Sans Text Regular" pitchFamily="34" charset="-122"/>
                <a:cs typeface="SB Sans Display" panose="020B0503040504020204" pitchFamily="34" charset="0"/>
              </a:rPr>
              <a:t>Юрий Попов </a:t>
            </a:r>
          </a:p>
          <a:p>
            <a:r>
              <a:rPr lang="ru-RU" sz="2000" dirty="0">
                <a:solidFill>
                  <a:srgbClr val="333F48"/>
                </a:solidFill>
                <a:latin typeface="SB Sans Display" panose="020B0503040504020204" pitchFamily="34" charset="0"/>
                <a:ea typeface="SB Sans Text Regular" pitchFamily="34" charset="-122"/>
                <a:cs typeface="SB Sans Display" panose="020B0503040504020204" pitchFamily="34" charset="0"/>
              </a:rPr>
              <a:t>Стратег по валютному рынку и процентным ставкам </a:t>
            </a:r>
          </a:p>
          <a:p>
            <a:r>
              <a:rPr lang="ru-RU" sz="2000" dirty="0" smtClean="0">
                <a:solidFill>
                  <a:srgbClr val="333F48"/>
                </a:solidFill>
                <a:latin typeface="SB Sans Display" panose="020B0503040504020204" pitchFamily="34" charset="0"/>
                <a:ea typeface="SB Sans Text Regular" pitchFamily="34" charset="-122"/>
                <a:cs typeface="SB Sans Display" panose="020B0503040504020204" pitchFamily="34" charset="0"/>
              </a:rPr>
              <a:t>Департамент глобальных рынков </a:t>
            </a:r>
            <a:endParaRPr lang="en-US" sz="2000" dirty="0">
              <a:solidFill>
                <a:srgbClr val="333F48"/>
              </a:solidFill>
              <a:latin typeface="SB Sans Display" panose="020B0503040504020204" pitchFamily="34" charset="0"/>
              <a:ea typeface="SB Sans Text Regular" pitchFamily="34" charset="-122"/>
              <a:cs typeface="SB Sans Display" panose="020B0503040504020204" pitchFamily="34" charset="0"/>
            </a:endParaRPr>
          </a:p>
          <a:p>
            <a:endParaRPr lang="ru-RU" sz="2000" dirty="0">
              <a:solidFill>
                <a:srgbClr val="333F48"/>
              </a:solidFill>
              <a:latin typeface="SB Sans Display" panose="020B0503040504020204" pitchFamily="34" charset="0"/>
              <a:ea typeface="SB Sans Text Regular" pitchFamily="34" charset="-122"/>
              <a:cs typeface="SB Sans Display" panose="020B0503040504020204" pitchFamily="34" charset="0"/>
            </a:endParaRPr>
          </a:p>
          <a:p>
            <a:r>
              <a:rPr lang="ru-RU" sz="2000" dirty="0" smtClean="0">
                <a:solidFill>
                  <a:srgbClr val="333F48"/>
                </a:solidFill>
                <a:latin typeface="SB Sans Display" panose="020B0503040504020204" pitchFamily="34" charset="0"/>
                <a:ea typeface="SB Sans Text Regular" pitchFamily="34" charset="-122"/>
                <a:cs typeface="SB Sans Display" panose="020B0503040504020204" pitchFamily="34" charset="0"/>
              </a:rPr>
              <a:t>Февраль 2022</a:t>
            </a:r>
            <a:endParaRPr lang="ru-RU" sz="2000" dirty="0">
              <a:solidFill>
                <a:srgbClr val="333F48"/>
              </a:solidFill>
              <a:latin typeface="SB Sans Display" panose="020B0503040504020204" pitchFamily="34" charset="0"/>
              <a:ea typeface="SB Sans Text Regular" pitchFamily="34" charset="-122"/>
              <a:cs typeface="SB Sans Display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032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27">
            <a:extLst>
              <a:ext uri="{FF2B5EF4-FFF2-40B4-BE49-F238E27FC236}">
                <a16:creationId xmlns:a16="http://schemas.microsoft.com/office/drawing/2014/main" xmlns="" id="{93E86127-12D8-324B-901C-E3EFA96AEF6D}"/>
              </a:ext>
            </a:extLst>
          </p:cNvPr>
          <p:cNvSpPr/>
          <p:nvPr/>
        </p:nvSpPr>
        <p:spPr>
          <a:xfrm>
            <a:off x="863600" y="332279"/>
            <a:ext cx="8646160" cy="8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101 </a:t>
            </a:r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форма - данные </a:t>
            </a:r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оборотной ведомости по счетам бухгалтерского </a:t>
            </a:r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учёта</a:t>
            </a:r>
            <a:endParaRPr lang="ru-RU" sz="2667" dirty="0">
              <a:solidFill>
                <a:srgbClr val="333F48"/>
              </a:solidFill>
              <a:latin typeface="SB Sans Display Semibold" panose="020B0703040504020204" pitchFamily="34" charset="0"/>
              <a:cs typeface="SB Sans Display Semibold" panose="020B0703040504020204" pitchFamily="34" charset="0"/>
            </a:endParaRPr>
          </a:p>
        </p:txBody>
      </p:sp>
      <p:sp>
        <p:nvSpPr>
          <p:cNvPr id="16" name="Object5">
            <a:extLst>
              <a:ext uri="{FF2B5EF4-FFF2-40B4-BE49-F238E27FC236}">
                <a16:creationId xmlns:a16="http://schemas.microsoft.com/office/drawing/2014/main" xmlns="" id="{88AB0EDB-43AB-0B44-BFF1-B58E1C64ADDD}"/>
              </a:ext>
            </a:extLst>
          </p:cNvPr>
          <p:cNvSpPr/>
          <p:nvPr/>
        </p:nvSpPr>
        <p:spPr>
          <a:xfrm>
            <a:off x="863599" y="1465590"/>
            <a:ext cx="8342393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  <a:spcBef>
                <a:spcPts val="600"/>
              </a:spcBef>
            </a:pPr>
            <a:r>
              <a:rPr lang="ru-RU" sz="1800" b="1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/>
                <a:cs typeface="SB Sans Display Semibold" panose="020B0703040504020204" pitchFamily="34" charset="0"/>
              </a:rPr>
              <a:t>Что собой представляет 101 форма</a:t>
            </a:r>
            <a:r>
              <a:rPr lang="en-US" sz="1800" b="1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/>
                <a:cs typeface="SB Sans Display Semibold" panose="020B0703040504020204" pitchFamily="34" charset="0"/>
              </a:rPr>
              <a:t>?</a:t>
            </a:r>
            <a:endParaRPr lang="ru-RU" sz="1800" b="1" dirty="0">
              <a:solidFill>
                <a:srgbClr val="00766C"/>
              </a:solidFill>
              <a:latin typeface="SB Sans Display Semibold" panose="020B0703040504020204" pitchFamily="34" charset="0"/>
              <a:ea typeface="SB Sans Display Regular"/>
              <a:cs typeface="SB Sans Display Semibold" panose="020B0703040504020204" pitchFamily="34" charset="0"/>
            </a:endParaRPr>
          </a:p>
        </p:txBody>
      </p:sp>
      <p:sp>
        <p:nvSpPr>
          <p:cNvPr id="17" name="Object20">
            <a:extLst>
              <a:ext uri="{FF2B5EF4-FFF2-40B4-BE49-F238E27FC236}">
                <a16:creationId xmlns:a16="http://schemas.microsoft.com/office/drawing/2014/main" xmlns="" id="{4DE50D27-C098-4D4C-A9FF-FA954A12C5D5}"/>
              </a:ext>
            </a:extLst>
          </p:cNvPr>
          <p:cNvSpPr/>
          <p:nvPr/>
        </p:nvSpPr>
        <p:spPr>
          <a:xfrm>
            <a:off x="863600" y="1903730"/>
            <a:ext cx="10496658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Это данные по всем бухгалтерским счетам всех российских банков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.  </a:t>
            </a: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Данные включают в себя как остатки по счетам на отчетную дату, так и обороты по ним за отчетный период.</a:t>
            </a:r>
            <a:endParaRPr lang="ru-RU" sz="1800" dirty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Они публикуются раз в месяц по состоянию на первое число месяца, следующего за отчетным. </a:t>
            </a:r>
            <a:endParaRPr lang="ru-RU" sz="1800" dirty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</p:txBody>
      </p:sp>
      <p:sp>
        <p:nvSpPr>
          <p:cNvPr id="18" name="Object5">
            <a:extLst>
              <a:ext uri="{FF2B5EF4-FFF2-40B4-BE49-F238E27FC236}">
                <a16:creationId xmlns:a16="http://schemas.microsoft.com/office/drawing/2014/main" xmlns="" id="{88AB0EDB-43AB-0B44-BFF1-B58E1C64ADDD}"/>
              </a:ext>
            </a:extLst>
          </p:cNvPr>
          <p:cNvSpPr/>
          <p:nvPr/>
        </p:nvSpPr>
        <p:spPr>
          <a:xfrm>
            <a:off x="863599" y="3789977"/>
            <a:ext cx="8342393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  <a:spcBef>
                <a:spcPts val="600"/>
              </a:spcBef>
            </a:pPr>
            <a:r>
              <a:rPr lang="ru-RU" sz="1800" b="1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/>
                <a:cs typeface="SB Sans Display Semibold" panose="020B0703040504020204" pitchFamily="34" charset="0"/>
              </a:rPr>
              <a:t>Зачем нужна 101 форма</a:t>
            </a:r>
            <a:r>
              <a:rPr lang="en-US" sz="1800" b="1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/>
                <a:cs typeface="SB Sans Display Semibold" panose="020B0703040504020204" pitchFamily="34" charset="0"/>
              </a:rPr>
              <a:t>?</a:t>
            </a:r>
            <a:endParaRPr lang="ru-RU" sz="1800" b="1" dirty="0">
              <a:solidFill>
                <a:srgbClr val="00766C"/>
              </a:solidFill>
              <a:latin typeface="SB Sans Display Semibold" panose="020B0703040504020204" pitchFamily="34" charset="0"/>
              <a:ea typeface="SB Sans Display Regular"/>
              <a:cs typeface="SB Sans Display Semibold" panose="020B0703040504020204" pitchFamily="34" charset="0"/>
            </a:endParaRPr>
          </a:p>
        </p:txBody>
      </p:sp>
      <p:sp>
        <p:nvSpPr>
          <p:cNvPr id="19" name="Object20">
            <a:extLst>
              <a:ext uri="{FF2B5EF4-FFF2-40B4-BE49-F238E27FC236}">
                <a16:creationId xmlns:a16="http://schemas.microsoft.com/office/drawing/2014/main" xmlns="" id="{4DE50D27-C098-4D4C-A9FF-FA954A12C5D5}"/>
              </a:ext>
            </a:extLst>
          </p:cNvPr>
          <p:cNvSpPr/>
          <p:nvPr/>
        </p:nvSpPr>
        <p:spPr>
          <a:xfrm>
            <a:off x="863599" y="4182392"/>
            <a:ext cx="10496658" cy="2400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На ее основе можно считать различную статистику по российским банкам, в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том числе по отдельным кредитным организациям,  которую нельзя найти в других источниках.</a:t>
            </a:r>
            <a:endParaRPr lang="ru-RU" sz="1800" dirty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Например, можно рассчитать объем валютной ликвидности в российском банковском секторе (совокупность краткосрочных высоколиквидных валютных активов). </a:t>
            </a: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Зная его, можно оценить справедливую стоимость валютных заимствований на российском денежном рынке.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В результате можно давать прогноз  по котировкам валютных  свопов и делать торговые рекомендации. </a:t>
            </a:r>
            <a:endParaRPr lang="ru-RU" sz="1800" dirty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314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27">
            <a:extLst>
              <a:ext uri="{FF2B5EF4-FFF2-40B4-BE49-F238E27FC236}">
                <a16:creationId xmlns:a16="http://schemas.microsoft.com/office/drawing/2014/main" xmlns="" id="{93E86127-12D8-324B-901C-E3EFA96AEF6D}"/>
              </a:ext>
            </a:extLst>
          </p:cNvPr>
          <p:cNvSpPr/>
          <p:nvPr/>
        </p:nvSpPr>
        <p:spPr>
          <a:xfrm>
            <a:off x="863600" y="332279"/>
            <a:ext cx="8646160" cy="8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Python </a:t>
            </a:r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и </a:t>
            </a:r>
            <a:r>
              <a:rPr lang="en-US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SQL </a:t>
            </a:r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существенно упрощают анализ 101 формы</a:t>
            </a:r>
            <a:endParaRPr lang="ru-RU" sz="2667" dirty="0">
              <a:solidFill>
                <a:srgbClr val="333F48"/>
              </a:solidFill>
              <a:latin typeface="SB Sans Display Semibold" panose="020B0703040504020204" pitchFamily="34" charset="0"/>
              <a:cs typeface="SB Sans Display Semibold" panose="020B0703040504020204" pitchFamily="34" charset="0"/>
            </a:endParaRPr>
          </a:p>
        </p:txBody>
      </p:sp>
      <p:sp>
        <p:nvSpPr>
          <p:cNvPr id="16" name="Object5">
            <a:extLst>
              <a:ext uri="{FF2B5EF4-FFF2-40B4-BE49-F238E27FC236}">
                <a16:creationId xmlns:a16="http://schemas.microsoft.com/office/drawing/2014/main" xmlns="" id="{88AB0EDB-43AB-0B44-BFF1-B58E1C64ADDD}"/>
              </a:ext>
            </a:extLst>
          </p:cNvPr>
          <p:cNvSpPr/>
          <p:nvPr/>
        </p:nvSpPr>
        <p:spPr>
          <a:xfrm>
            <a:off x="863599" y="1465590"/>
            <a:ext cx="8342393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  <a:spcBef>
                <a:spcPts val="600"/>
              </a:spcBef>
            </a:pPr>
            <a:r>
              <a:rPr lang="ru-RU" sz="1800" b="1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/>
                <a:cs typeface="SB Sans Display Semibold" panose="020B0703040504020204" pitchFamily="34" charset="0"/>
              </a:rPr>
              <a:t>С помощью чего можно анализировать 101 форму</a:t>
            </a:r>
            <a:r>
              <a:rPr lang="en-US" sz="1800" b="1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/>
                <a:cs typeface="SB Sans Display Semibold" panose="020B0703040504020204" pitchFamily="34" charset="0"/>
              </a:rPr>
              <a:t>?</a:t>
            </a:r>
            <a:endParaRPr lang="ru-RU" sz="1800" b="1" dirty="0">
              <a:solidFill>
                <a:srgbClr val="00766C"/>
              </a:solidFill>
              <a:latin typeface="SB Sans Display Semibold" panose="020B0703040504020204" pitchFamily="34" charset="0"/>
              <a:ea typeface="SB Sans Display Regular"/>
              <a:cs typeface="SB Sans Display Semibold" panose="020B0703040504020204" pitchFamily="34" charset="0"/>
            </a:endParaRPr>
          </a:p>
        </p:txBody>
      </p:sp>
      <p:sp>
        <p:nvSpPr>
          <p:cNvPr id="17" name="Object20">
            <a:extLst>
              <a:ext uri="{FF2B5EF4-FFF2-40B4-BE49-F238E27FC236}">
                <a16:creationId xmlns:a16="http://schemas.microsoft.com/office/drawing/2014/main" xmlns="" id="{4DE50D27-C098-4D4C-A9FF-FA954A12C5D5}"/>
              </a:ext>
            </a:extLst>
          </p:cNvPr>
          <p:cNvSpPr/>
          <p:nvPr/>
        </p:nvSpPr>
        <p:spPr>
          <a:xfrm>
            <a:off x="863600" y="1903730"/>
            <a:ext cx="10496658" cy="424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Банк России публикует 101 форму на своем сайте в формате архивированных </a:t>
            </a:r>
            <a:r>
              <a:rPr lang="ru-RU" sz="1800" dirty="0" err="1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dbf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  файлов: https://www.cbr.ru/banking_sector/otchetnost-kreditnykh-organizaciy/ .  </a:t>
            </a: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Файлы с основным набором данных за каждый месяц весят около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30 МБ и включают около 150 тыс. строк каждый. </a:t>
            </a: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DBF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 файлы можно открыть с помощью 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MS Excel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 и агрегировать  с помощью макросов. Однако это долго и неудобно.</a:t>
            </a: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Альтернатива -  это использовать сайт КУАП - 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https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://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www.kuap.ru/banks/9999/balances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/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  , на котором агрегированы статьи балансов банков на основе данных по 101 форме.  Однако это тоже не удобно, так как нет возможности строить свои индикаторы, например, считать объем валютной ликвидности.</a:t>
            </a: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Поэтому  для удобства анализа 101 формы стоит воспользоваться средствами </a:t>
            </a:r>
            <a:r>
              <a:rPr lang="en-US" sz="1800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Python </a:t>
            </a:r>
            <a:r>
              <a:rPr lang="ru-RU" sz="1800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и </a:t>
            </a:r>
            <a:r>
              <a:rPr lang="en-US" sz="1800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SQL </a:t>
            </a:r>
            <a:r>
              <a:rPr lang="ru-RU" sz="1800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, которые позволяют автоматизировать выгрузку и обработку данных. </a:t>
            </a:r>
            <a:endParaRPr lang="ru-RU" sz="1800" dirty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314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27">
            <a:extLst>
              <a:ext uri="{FF2B5EF4-FFF2-40B4-BE49-F238E27FC236}">
                <a16:creationId xmlns:a16="http://schemas.microsoft.com/office/drawing/2014/main" xmlns="" id="{93E86127-12D8-324B-901C-E3EFA96AEF6D}"/>
              </a:ext>
            </a:extLst>
          </p:cNvPr>
          <p:cNvSpPr/>
          <p:nvPr/>
        </p:nvSpPr>
        <p:spPr>
          <a:xfrm>
            <a:off x="863600" y="537495"/>
            <a:ext cx="8646160" cy="4104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Этапы обработки 101 формы </a:t>
            </a:r>
            <a:endParaRPr lang="ru-RU" sz="2667" dirty="0">
              <a:solidFill>
                <a:srgbClr val="333F48"/>
              </a:solidFill>
              <a:latin typeface="SB Sans Display Semibold" panose="020B0703040504020204" pitchFamily="34" charset="0"/>
              <a:cs typeface="SB Sans Display Semibold" panose="020B0703040504020204" pitchFamily="34" charset="0"/>
            </a:endParaRPr>
          </a:p>
        </p:txBody>
      </p:sp>
      <p:sp>
        <p:nvSpPr>
          <p:cNvPr id="17" name="Object20">
            <a:extLst>
              <a:ext uri="{FF2B5EF4-FFF2-40B4-BE49-F238E27FC236}">
                <a16:creationId xmlns:a16="http://schemas.microsoft.com/office/drawing/2014/main" xmlns="" id="{4DE50D27-C098-4D4C-A9FF-FA954A12C5D5}"/>
              </a:ext>
            </a:extLst>
          </p:cNvPr>
          <p:cNvSpPr/>
          <p:nvPr/>
        </p:nvSpPr>
        <p:spPr>
          <a:xfrm>
            <a:off x="863600" y="1175657"/>
            <a:ext cx="10496658" cy="544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+mj-lt"/>
              <a:buAutoNum type="arabicPeriod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Скачиваем  и подготавливаем данные  </a:t>
            </a:r>
          </a:p>
          <a:p>
            <a:pPr marL="647670" lvl="1" indent="-342900">
              <a:spcBef>
                <a:spcPts val="1800"/>
              </a:spcBef>
              <a:buClr>
                <a:srgbClr val="00766C"/>
              </a:buClr>
              <a:buFont typeface="Arial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С помощью библиотеки </a:t>
            </a:r>
            <a:r>
              <a:rPr lang="en-US" sz="1800" i="1" dirty="0" err="1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BeautifulSoup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 скачиваем все ссылки  на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архивы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с данными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на сайте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ЦБ 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  <a:hlinkClick r:id="rId2"/>
              </a:rPr>
              <a:t>http://cbr.ru/vfs/credit/forms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  <a:hlinkClick r:id="rId2"/>
              </a:rPr>
              <a:t>/</a:t>
            </a:r>
            <a:endParaRPr lang="ru-RU" sz="1800" dirty="0" smtClean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  <a:p>
            <a:pPr marL="647670" lvl="1" indent="-342900">
              <a:spcBef>
                <a:spcPts val="1800"/>
              </a:spcBef>
              <a:buClr>
                <a:srgbClr val="00766C"/>
              </a:buClr>
              <a:buFont typeface="Arial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Выбираем те, что относятся к 101 форме за требуемые нам даты, скачиваем их на локальный компьютер или сетевой диск с помощью пакета </a:t>
            </a:r>
            <a:r>
              <a:rPr lang="en-US" sz="1800" i="1" dirty="0" err="1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Urllib</a:t>
            </a:r>
            <a:endParaRPr lang="en-US" sz="1800" i="1" dirty="0" smtClean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  <a:p>
            <a:pPr marL="647670" lvl="1" indent="-342900">
              <a:spcBef>
                <a:spcPts val="1800"/>
              </a:spcBef>
              <a:buClr>
                <a:srgbClr val="00766C"/>
              </a:buClr>
              <a:buFont typeface="Arial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Разархивируем данные  с помощью библиотеки </a:t>
            </a:r>
            <a:r>
              <a:rPr lang="en-US" sz="1800" i="1" dirty="0" err="1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Patoolib</a:t>
            </a:r>
            <a:endParaRPr lang="ru-RU" sz="1800" i="1" dirty="0" smtClean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  <a:p>
            <a:pPr marL="647670" lvl="1" indent="-342900">
              <a:spcBef>
                <a:spcPts val="1800"/>
              </a:spcBef>
              <a:buClr>
                <a:srgbClr val="00766C"/>
              </a:buClr>
              <a:buFont typeface="Arial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Открываем 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dbf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файлы с помощью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библиотеки </a:t>
            </a:r>
            <a:r>
              <a:rPr lang="en-US" sz="1800" i="1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D</a:t>
            </a:r>
            <a:r>
              <a:rPr lang="en-US" sz="1800" i="1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bf</a:t>
            </a:r>
            <a:endParaRPr lang="ru-RU" sz="1800" i="1" dirty="0" smtClean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+mj-lt"/>
              <a:buAutoNum type="arabicPeriod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С помощью библиотеки 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Pandas  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скачиваем данные по валютному курсу  (понадобятся для расчета показателей в долларах США) с сайта ЦБ 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https://cbr.ru/currency_base/dynamics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.  </a:t>
            </a: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+mj-lt"/>
              <a:buAutoNum type="arabicPeriod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Создаем базу в </a:t>
            </a:r>
            <a:r>
              <a:rPr lang="en-US" sz="1800" dirty="0" err="1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SQLite</a:t>
            </a:r>
            <a:endParaRPr lang="ru-RU" sz="1800" dirty="0" smtClean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Создаем в базе таблицу </a:t>
            </a:r>
            <a:r>
              <a:rPr lang="en-US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DATA101</a:t>
            </a: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 и  с помощью цикла записываем 101 форму  туда (процесс занимает несколько часов для записи данных с 2014 года). . </a:t>
            </a:r>
          </a:p>
          <a:p>
            <a:pPr marL="342900" indent="-342900">
              <a:spcBef>
                <a:spcPts val="1800"/>
              </a:spcBef>
              <a:buClr>
                <a:srgbClr val="00766C"/>
              </a:buClr>
              <a:buFont typeface="Arial" panose="020B0604020202020204" pitchFamily="34" charset="0"/>
              <a:buChar char="•"/>
            </a:pPr>
            <a:r>
              <a:rPr lang="ru-RU" sz="1800" dirty="0" smtClean="0">
                <a:solidFill>
                  <a:srgbClr val="333F48"/>
                </a:solidFill>
                <a:latin typeface="SB Sans Display Light" panose="020B0303040504020204" pitchFamily="34" charset="0"/>
                <a:ea typeface="SB Sans Display Regular" pitchFamily="34" charset="-122"/>
                <a:cs typeface="SB Sans Display Light" panose="020B0303040504020204" pitchFamily="34" charset="0"/>
              </a:rPr>
              <a:t>Создаем таблицы с данными по курсу, названиями счетов и именами банков</a:t>
            </a:r>
            <a:r>
              <a:rPr lang="ru-RU" sz="1800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. </a:t>
            </a:r>
            <a:endParaRPr lang="ru-RU" sz="1800" dirty="0">
              <a:solidFill>
                <a:srgbClr val="333F48"/>
              </a:solidFill>
              <a:latin typeface="SB Sans Display Light" panose="020B0303040504020204" pitchFamily="34" charset="0"/>
              <a:ea typeface="SB Sans Display Regular" pitchFamily="34" charset="-122"/>
              <a:cs typeface="SB Sans Display Light" panose="020B03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314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27">
            <a:extLst>
              <a:ext uri="{FF2B5EF4-FFF2-40B4-BE49-F238E27FC236}">
                <a16:creationId xmlns:a16="http://schemas.microsoft.com/office/drawing/2014/main" xmlns="" id="{93E86127-12D8-324B-901C-E3EFA96AEF6D}"/>
              </a:ext>
            </a:extLst>
          </p:cNvPr>
          <p:cNvSpPr/>
          <p:nvPr/>
        </p:nvSpPr>
        <p:spPr>
          <a:xfrm>
            <a:off x="863600" y="332280"/>
            <a:ext cx="8646160" cy="8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С помощью </a:t>
            </a:r>
            <a:r>
              <a:rPr lang="en-US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SQL </a:t>
            </a:r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 запросов рассчитываем динамику валютной ликвидности</a:t>
            </a:r>
            <a:endParaRPr lang="ru-RU" sz="2667" dirty="0">
              <a:solidFill>
                <a:srgbClr val="333F48"/>
              </a:solidFill>
              <a:latin typeface="SB Sans Display Semibold" panose="020B0703040504020204" pitchFamily="34" charset="0"/>
              <a:cs typeface="SB Sans Display Semibold" panose="020B0703040504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4463" y="1153146"/>
            <a:ext cx="9363075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1189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27">
            <a:extLst>
              <a:ext uri="{FF2B5EF4-FFF2-40B4-BE49-F238E27FC236}">
                <a16:creationId xmlns:a16="http://schemas.microsoft.com/office/drawing/2014/main" xmlns="" id="{93E86127-12D8-324B-901C-E3EFA96AEF6D}"/>
              </a:ext>
            </a:extLst>
          </p:cNvPr>
          <p:cNvSpPr/>
          <p:nvPr/>
        </p:nvSpPr>
        <p:spPr>
          <a:xfrm>
            <a:off x="863600" y="332280"/>
            <a:ext cx="8646160" cy="8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С помощью </a:t>
            </a:r>
            <a:r>
              <a:rPr lang="en-US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SQL </a:t>
            </a:r>
            <a:r>
              <a:rPr lang="ru-RU" sz="2667" dirty="0" smtClean="0">
                <a:solidFill>
                  <a:srgbClr val="333F48"/>
                </a:solidFill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 запросов строим распределение валютной ликвидности по банкам</a:t>
            </a:r>
            <a:endParaRPr lang="ru-RU" sz="2667" dirty="0">
              <a:solidFill>
                <a:srgbClr val="333F48"/>
              </a:solidFill>
              <a:latin typeface="SB Sans Display Semibold" panose="020B0703040504020204" pitchFamily="34" charset="0"/>
              <a:cs typeface="SB Sans Display Semibold" panose="020B0703040504020204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4463" y="1393145"/>
            <a:ext cx="9363075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1189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5">
            <a:extLst>
              <a:ext uri="{FF2B5EF4-FFF2-40B4-BE49-F238E27FC236}">
                <a16:creationId xmlns:a16="http://schemas.microsoft.com/office/drawing/2014/main" xmlns="" id="{88AB0EDB-43AB-0B44-BFF1-B58E1C64ADDD}"/>
              </a:ext>
            </a:extLst>
          </p:cNvPr>
          <p:cNvSpPr/>
          <p:nvPr/>
        </p:nvSpPr>
        <p:spPr>
          <a:xfrm>
            <a:off x="1807028" y="3096320"/>
            <a:ext cx="1038497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  <a:spcBef>
                <a:spcPts val="600"/>
              </a:spcBef>
            </a:pPr>
            <a:r>
              <a:rPr lang="ru-RU" sz="6000" b="1" dirty="0" smtClean="0">
                <a:solidFill>
                  <a:srgbClr val="00766C"/>
                </a:solidFill>
                <a:latin typeface="SB Sans Display Semibold" panose="020B0703040504020204" pitchFamily="34" charset="0"/>
                <a:ea typeface="SB Sans Display Regular"/>
                <a:cs typeface="SB Sans Display Semibold" panose="020B0703040504020204" pitchFamily="34" charset="0"/>
              </a:rPr>
              <a:t>Спасибо за внимание!</a:t>
            </a:r>
            <a:endParaRPr lang="ru-RU" sz="6000" b="1" dirty="0">
              <a:solidFill>
                <a:srgbClr val="00766C"/>
              </a:solidFill>
              <a:latin typeface="SB Sans Display Semibold" panose="020B0703040504020204" pitchFamily="34" charset="0"/>
              <a:ea typeface="SB Sans Display Regular"/>
              <a:cs typeface="SB Sans Display Semibold" panose="020B07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533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16822</TotalTime>
  <Words>458</Words>
  <Application>Microsoft Office PowerPoint</Application>
  <PresentationFormat>Произвольный</PresentationFormat>
  <Paragraphs>35</Paragraphs>
  <Slides>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Юрий Попов</cp:lastModifiedBy>
  <cp:revision>426</cp:revision>
  <dcterms:created xsi:type="dcterms:W3CDTF">2020-11-13T10:40:39Z</dcterms:created>
  <dcterms:modified xsi:type="dcterms:W3CDTF">2022-02-09T09:15:31Z</dcterms:modified>
</cp:coreProperties>
</file>